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5143500" cx="9144000"/>
  <p:notesSz cx="6858000" cy="9144000"/>
  <p:embeddedFontLst>
    <p:embeddedFont>
      <p:font typeface="Old Standard TT"/>
      <p:regular r:id="rId27"/>
      <p:bold r:id="rId28"/>
      <p: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894E53-EFAE-48AB-BE94-D966DF648D7A}">
  <a:tblStyle styleId="{B7894E53-EFAE-48AB-BE94-D966DF648D7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font" Target="fonts/OldStandardTT-bold.fntdata"/><Relationship Id="rId27" Type="http://schemas.openxmlformats.org/officeDocument/2006/relationships/font" Target="fonts/OldStandardTT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OldStandardTT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109ff6f00aca1dc4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109ff6f00aca1dc4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c6f90357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c6f9035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c6f90357f_0_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c6f90357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51f1040c0654de2c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51f1040c0654de2c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51f1040c0654de2c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51f1040c0654de2c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51f1040c0654de2c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51f1040c0654de2c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51f1040c0654de2c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51f1040c0654de2c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51f1040c0654de2c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51f1040c0654de2c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51f1040c0654de2c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51f1040c0654de2c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51f1040c0654de2c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51f1040c0654de2c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51f1040c0654de2c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51f1040c0654de2c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51f1040c0654de2c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51f1040c0654de2c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51f1040c0654de2c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51f1040c0654de2c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51f1040c0654de2c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51f1040c0654de2c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c081403190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c081403190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08140319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08140319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c081403190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c081403190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081403190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081403190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c6f90357f_0_4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c6f90357f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" name="Google Shape;12;p2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" name="Google Shape;17;p3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perback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63225"/>
            <a:ext cx="8839200" cy="4613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12694" y="1972542"/>
            <a:ext cx="8118600" cy="274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By Anany Mishra, 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Asmi Singh, 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Harman S. Goodluck,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Tanishq Singh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Guided By - Dr. Juhi Chaudhary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Department of Computer Science and Engineering,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Shri Ram Murti Smarak College of Engineering and Technology. </a:t>
            </a:r>
            <a:endParaRPr sz="1800"/>
          </a:p>
        </p:txBody>
      </p:sp>
      <p:sp>
        <p:nvSpPr>
          <p:cNvPr id="65" name="Google Shape;65;p14"/>
          <p:cNvSpPr txBox="1"/>
          <p:nvPr>
            <p:ph type="ctrTitle"/>
          </p:nvPr>
        </p:nvSpPr>
        <p:spPr>
          <a:xfrm>
            <a:off x="512700" y="798975"/>
            <a:ext cx="8118600" cy="87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RIVAR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About Rivar</a:t>
            </a:r>
            <a:endParaRPr sz="3000"/>
          </a:p>
        </p:txBody>
      </p:sp>
      <p:sp>
        <p:nvSpPr>
          <p:cNvPr id="71" name="Google Shape;71;p1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Rivar is a Rust-based quantitative and computational risk management framework designed to model, simulate, and evaluate portfolio risk using mathematically rigorous methods and high-performance numerical computation.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title"/>
          </p:nvPr>
        </p:nvSpPr>
        <p:spPr>
          <a:xfrm>
            <a:off x="512693" y="1810358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Meaning of all Buzzwords involved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</a:t>
            </a:r>
            <a:endParaRPr/>
          </a:p>
        </p:txBody>
      </p:sp>
      <p:sp>
        <p:nvSpPr>
          <p:cNvPr id="82" name="Google Shape;82;p17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Risk - risk associated with fluctuations in value of traded assets.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Credit Risk - risk associated with uncertainty that </a:t>
            </a:r>
            <a:r>
              <a:rPr lang="en"/>
              <a:t>debtors will honour their financial obligations.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Operational Risk - risk associated with possibility of human error, IT failure, dishonesty, natural disaster, etc.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Portfolio </a:t>
            </a:r>
            <a:endParaRPr/>
          </a:p>
        </p:txBody>
      </p:sp>
      <p:sp>
        <p:nvSpPr>
          <p:cNvPr id="88" name="Google Shape;88;p1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gener</a:t>
            </a:r>
            <a:r>
              <a:rPr lang="en"/>
              <a:t>al we consider a portfolio which might be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collection of stocks and bonds;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collection of derivatives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collection of risky loans;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financial institution’s overall position in risky assets.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340138" y="1637705"/>
            <a:ext cx="4045200" cy="186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Quantitative</a:t>
            </a:r>
            <a:r>
              <a:rPr lang="en"/>
              <a:t> Risk Management </a:t>
            </a:r>
            <a:endParaRPr/>
          </a:p>
        </p:txBody>
      </p:sp>
      <p:sp>
        <p:nvSpPr>
          <p:cNvPr id="94" name="Google Shape;94;p1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finance discipline that uses mathematical models and statistical techniques to measure and manage financial risk.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Value at Risk (VaR)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Market risk analytics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Primary Goal: Model financial risk using mathematical theory.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277941" y="1576050"/>
            <a:ext cx="4045200" cy="199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Computational</a:t>
            </a:r>
            <a:r>
              <a:rPr lang="en"/>
              <a:t> Risk Management </a:t>
            </a:r>
            <a:endParaRPr/>
          </a:p>
        </p:txBody>
      </p:sp>
      <p:sp>
        <p:nvSpPr>
          <p:cNvPr id="100" name="Google Shape;100;p20"/>
          <p:cNvSpPr txBox="1"/>
          <p:nvPr>
            <p:ph idx="2" type="body"/>
          </p:nvPr>
        </p:nvSpPr>
        <p:spPr>
          <a:xfrm>
            <a:off x="5001705" y="536250"/>
            <a:ext cx="3837000" cy="407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implementation-focused approach that applies algorithms, numerical methods, and high-performance computing to solve risk models efficiently.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Performance optimization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Numerical stability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Large-scale portfolio simulation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Primary Goal: Compute risk models efficiently, reliably, and at scale.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</a:t>
            </a:r>
            <a:r>
              <a:rPr lang="en"/>
              <a:t>ue at Risk (VaR)</a:t>
            </a:r>
            <a:endParaRPr/>
          </a:p>
        </p:txBody>
      </p:sp>
      <p:sp>
        <p:nvSpPr>
          <p:cNvPr id="106" name="Google Shape;106;p21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 at Risk tells us the maximum expected loss over a given time period, with a certain level of confidence.</a:t>
            </a:r>
            <a:endParaRPr/>
          </a:p>
        </p:txBody>
      </p:sp>
      <p:sp>
        <p:nvSpPr>
          <p:cNvPr id="107" name="Google Shape;107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we say: The 95% one-week VaR is ₹50,000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It means: In 95 out of 100 weeks,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The loss will not exceed ₹50,000.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Only 5% of the time will losses be worse than ₹50,000.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It does NOT mean we cannot lose more. It means losing more is statistically rare.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2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</a:t>
            </a:r>
            <a:endParaRPr/>
          </a:p>
        </p:txBody>
      </p:sp>
      <p:sp>
        <p:nvSpPr>
          <p:cNvPr id="113" name="Google Shape;113;p22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 simulation means running thousands (or millions) of possible future scenarios to see what could happen.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Suppose you want to know: “What could happen to my investment next month?”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But markets are uncertain. Prices move randomly. Instead of predicting one future…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We simulate thousands of possible futures.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 vs Monte Carlo</a:t>
            </a:r>
            <a:endParaRPr/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Imagine predicting your total score after rolling a dice 100 times. Instead of solving complex probability equations: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You simulate:</a:t>
            </a:r>
            <a:endParaRPr sz="1200"/>
          </a:p>
          <a:p>
            <a:pPr indent="-304800" lvl="0" marL="457200" rtl="0" algn="l">
              <a:spcBef>
                <a:spcPts val="160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Roll the dice 10,000 times (on a computer)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Record the results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Observe the distribution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And </a:t>
            </a:r>
            <a:r>
              <a:rPr lang="en" sz="1200"/>
              <a:t>understand:</a:t>
            </a:r>
            <a:endParaRPr sz="1200"/>
          </a:p>
          <a:p>
            <a:pPr indent="-304800" lvl="0" marL="457200" rtl="0" algn="l">
              <a:spcBef>
                <a:spcPts val="160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Most likely outcome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Worst 5% outcomes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Rare extreme cases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200"/>
              <a:t>That’s Monte Carlo.</a:t>
            </a:r>
            <a:endParaRPr sz="1200"/>
          </a:p>
        </p:txBody>
      </p:sp>
      <p:sp>
        <p:nvSpPr>
          <p:cNvPr id="121" name="Google Shape;121;p23"/>
          <p:cNvSpPr txBox="1"/>
          <p:nvPr>
            <p:ph idx="2" type="body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 markets:</a:t>
            </a:r>
            <a:endParaRPr sz="1200"/>
          </a:p>
          <a:p>
            <a:pPr indent="-304800" lvl="0" marL="457200" rtl="0" algn="l">
              <a:spcBef>
                <a:spcPts val="16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Prices fluctuate daily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Returns are uncertain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Volatility changes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So instead of guessing one outcome: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We simulate thousands of price paths:</a:t>
            </a:r>
            <a:endParaRPr sz="1200"/>
          </a:p>
          <a:p>
            <a:pPr indent="-304800" lvl="0" marL="457200" rtl="0" algn="l">
              <a:spcBef>
                <a:spcPts val="160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Generate random market movements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Calculate portfolio value in each scenario 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Observe worst losses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200"/>
              <a:t>Then we compute VaR from those simulated losses.</a:t>
            </a:r>
            <a:endParaRPr sz="1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 vs Monte Carlo 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combine both concepts: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VaR tells us “how bad could losses get?”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Monte Carlo helps us estimate that when reality is too complex.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So: </a:t>
            </a:r>
            <a:r>
              <a:rPr b="1" i="1" lang="en"/>
              <a:t>Monte Carlo is the method. VaR is the result.</a:t>
            </a:r>
            <a:endParaRPr b="1" i="1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Value at Risk estimates the worst loss we expect within a certain confidence level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Monte Carlo simulation helps us estimate that loss by simulating thousands of possible future market scenarios.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 </a:t>
            </a:r>
            <a:endParaRPr/>
          </a:p>
        </p:txBody>
      </p:sp>
      <p:sp>
        <p:nvSpPr>
          <p:cNvPr id="133" name="Google Shape;133;p25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Theoretical Models ≠ Practical Systems</a:t>
            </a:r>
            <a:endParaRPr/>
          </a:p>
        </p:txBody>
      </p:sp>
      <p:sp>
        <p:nvSpPr>
          <p:cNvPr id="134" name="Google Shape;134;p2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Most quantitative risk models: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Are developed in academic environments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Assume ideal conditions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Ignore computational scalability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Are implemented in slow prototyping environments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Strong theory, weak systems integration.</a:t>
            </a:r>
            <a:endParaRPr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 </a:t>
            </a:r>
            <a:endParaRPr/>
          </a:p>
        </p:txBody>
      </p:sp>
      <p:sp>
        <p:nvSpPr>
          <p:cNvPr id="140" name="Google Shape;140;p26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Performance Bottlenecks in Risk Computation</a:t>
            </a:r>
            <a:endParaRPr/>
          </a:p>
        </p:txBody>
      </p:sp>
      <p:sp>
        <p:nvSpPr>
          <p:cNvPr id="141" name="Google Shape;141;p26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Modern financial risk analysis requires: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Large portfolio simulations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Monte Carlo with millions of paths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Backtesting over years of historical data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Python/R-based systems often: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Struggle with memory efficiency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Require heavy optimization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Lack low-level control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Depend on external C/C++ bindings</a:t>
            </a:r>
            <a:endParaRPr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 </a:t>
            </a:r>
            <a:endParaRPr/>
          </a:p>
        </p:txBody>
      </p:sp>
      <p:sp>
        <p:nvSpPr>
          <p:cNvPr id="147" name="Google Shape;147;p27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Fragmented Tooling</a:t>
            </a:r>
            <a:endParaRPr/>
          </a:p>
        </p:txBody>
      </p:sp>
      <p:sp>
        <p:nvSpPr>
          <p:cNvPr id="148" name="Google Shape;148;p27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Quant libraries focus on models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Systems languages focus on performance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Few libraries integrate both natively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There is no unified, Rust-native framework that: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Implements rigorous risk theory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Ensures memory safety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Provides high-performance computation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Is production-ready</a:t>
            </a:r>
            <a:endParaRPr sz="1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 </a:t>
            </a:r>
            <a:endParaRPr/>
          </a:p>
        </p:txBody>
      </p:sp>
      <p:sp>
        <p:nvSpPr>
          <p:cNvPr id="154" name="Google Shape;154;p28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Quantitative models remain theoretical or prototype-level.</a:t>
            </a:r>
            <a:endParaRPr/>
          </a:p>
        </p:txBody>
      </p:sp>
      <p:sp>
        <p:nvSpPr>
          <p:cNvPr id="155" name="Google Shape;155;p2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Rivar introduces a **layered architecture** that separates: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 sz="1400">
                <a:solidFill>
                  <a:schemeClr val="lt1"/>
                </a:solidFill>
              </a:rPr>
              <a:t>Mathematical model definitions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 sz="1400">
                <a:solidFill>
                  <a:schemeClr val="lt1"/>
                </a:solidFill>
              </a:rPr>
              <a:t>Numerical computation engine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 sz="1400">
                <a:solidFill>
                  <a:schemeClr val="lt1"/>
                </a:solidFill>
              </a:rPr>
              <a:t>Interface &amp; integration layer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This ensures: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" sz="1400">
                <a:solidFill>
                  <a:schemeClr val="lt1"/>
                </a:solidFill>
              </a:rPr>
              <a:t>Mathematical rigor is preserved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" sz="1400">
                <a:solidFill>
                  <a:schemeClr val="lt1"/>
                </a:solidFill>
              </a:rPr>
              <a:t>Computational execution is optimized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" sz="1400">
                <a:solidFill>
                  <a:schemeClr val="lt1"/>
                </a:solidFill>
              </a:rPr>
              <a:t>Models are deployable in production systems</a:t>
            </a:r>
            <a:endParaRPr sz="1400">
              <a:solidFill>
                <a:schemeClr val="lt1"/>
              </a:solidFill>
            </a:endParaRPr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</a:t>
            </a:r>
            <a:endParaRPr/>
          </a:p>
        </p:txBody>
      </p:sp>
      <p:sp>
        <p:nvSpPr>
          <p:cNvPr id="161" name="Google Shape;161;p2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Monte Carlo and portfolio simulations are computationally expensive.</a:t>
            </a:r>
            <a:endParaRPr/>
          </a:p>
        </p:txBody>
      </p:sp>
      <p:sp>
        <p:nvSpPr>
          <p:cNvPr id="162" name="Google Shape;162;p2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Rivar implements:</a:t>
            </a:r>
            <a:endParaRPr sz="14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Parallel Monte Carlo simulation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Memory-efficient data structures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Quantile-based VaR computation using selection algorithms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Configurable simulation scale NNN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Result:</a:t>
            </a:r>
            <a:endParaRPr sz="14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Scalable simulation for large portfolios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Reduced computational overhead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Real-time or near-real-time risk recalculation</a:t>
            </a:r>
            <a:endParaRPr sz="14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0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</a:t>
            </a:r>
            <a:endParaRPr/>
          </a:p>
        </p:txBody>
      </p:sp>
      <p:sp>
        <p:nvSpPr>
          <p:cNvPr id="168" name="Google Shape;168;p30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Reliability &amp; Systemic Safety</a:t>
            </a:r>
            <a:endParaRPr/>
          </a:p>
        </p:txBody>
      </p:sp>
      <p:sp>
        <p:nvSpPr>
          <p:cNvPr id="169" name="Google Shape;169;p3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Financial systems demand:</a:t>
            </a:r>
            <a:endParaRPr sz="14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Deterministic behavior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No memory leaks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Safe concurrency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Numerical precision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Rivar leverages Rust’s: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Ownership model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Compile-time safety guarantees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Absence of garbage collection pauses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 Strong type system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Result: Reduced runtime risk in financial software infrastructure.</a:t>
            </a:r>
            <a:endParaRPr sz="140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Unified Quantitative + Computational Framework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/>
              <a:t>Rivar Integrates </a:t>
            </a:r>
            <a:endParaRPr b="1" sz="150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/>
          </a:p>
        </p:txBody>
      </p:sp>
      <p:graphicFrame>
        <p:nvGraphicFramePr>
          <p:cNvPr id="176" name="Google Shape;176;p31"/>
          <p:cNvGraphicFramePr/>
          <p:nvPr/>
        </p:nvGraphicFramePr>
        <p:xfrm>
          <a:off x="952500" y="1900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{B7894E53-EFAE-48AB-BE94-D966DF648D7A}</a:tableStyleId>
              </a:tblPr>
              <a:tblGrid>
                <a:gridCol w="3619500"/>
                <a:gridCol w="3619500"/>
              </a:tblGrid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Quantitative Layer</a:t>
                      </a:r>
                      <a:endParaRPr b="1" sz="1600"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Computational Layer</a:t>
                      </a:r>
                      <a:endParaRPr b="1" sz="1600"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VaR definitions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Parallel simulation engine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CVaR estimation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Efficient quantile selection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Historical models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Memory-safe data pipelines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Stochastic processes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Multi-threaded execution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2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 Behind</a:t>
            </a:r>
            <a:endParaRPr/>
          </a:p>
        </p:txBody>
      </p:sp>
      <p:sp>
        <p:nvSpPr>
          <p:cNvPr id="182" name="Google Shape;182;p32"/>
          <p:cNvSpPr txBox="1"/>
          <p:nvPr>
            <p:ph idx="1" type="body"/>
          </p:nvPr>
        </p:nvSpPr>
        <p:spPr>
          <a:xfrm>
            <a:off x="311700" y="1337855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Rivar can evolve into: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/>
              <a:t>A full risk analytics framework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/>
              <a:t>A research platform for financial modeling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/>
              <a:t>A backend engine for financial institutions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/>
              <a:t>An open-source computational finance ecosystem in Rust</a:t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Rivar is not just an academic project. It is a structured attempt to transform financial risk theory into a scalable, production-ready computational system. By combining mathematical modeling with modern systems engineering, it aims to bridge research and real-world deployment.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